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7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71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08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18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9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634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51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08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2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3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61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30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491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455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949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62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75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6F770A-F2FE-4B10-9CD1-6C944B31C640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102DB5-3CE7-479C-8CF6-402B3C5BB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96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040E-E048-BC12-6721-C14816EE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3961"/>
            <a:ext cx="9144000" cy="884904"/>
          </a:xfrm>
        </p:spPr>
        <p:txBody>
          <a:bodyPr>
            <a:normAutofit/>
          </a:bodyPr>
          <a:lstStyle/>
          <a:p>
            <a:r>
              <a:rPr lang="en-US" sz="3200" b="1" dirty="0"/>
              <a:t>MUTUAL FUND ANALYTICS DASHBOARD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9563A-68EB-7E77-0871-7656D7193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4671"/>
            <a:ext cx="9144000" cy="3773129"/>
          </a:xfrm>
        </p:spPr>
        <p:txBody>
          <a:bodyPr/>
          <a:lstStyle/>
          <a:p>
            <a:r>
              <a:rPr lang="en-US" dirty="0"/>
              <a:t>Capstone Project Report</a:t>
            </a:r>
          </a:p>
          <a:p>
            <a:endParaRPr lang="en-US" dirty="0"/>
          </a:p>
          <a:p>
            <a:r>
              <a:rPr lang="en-US" sz="1800" dirty="0"/>
              <a:t>Prepared By: </a:t>
            </a:r>
            <a:r>
              <a:rPr lang="en-US" sz="1800" b="1" dirty="0"/>
              <a:t>Soumya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B.Tech</a:t>
            </a:r>
            <a:r>
              <a:rPr lang="en-US" sz="1800" dirty="0"/>
              <a:t> (Hons.) Electrical Engineering</a:t>
            </a:r>
          </a:p>
          <a:p>
            <a:r>
              <a:rPr lang="en-US" sz="1800" dirty="0"/>
              <a:t>NIT Jamshedpur</a:t>
            </a:r>
          </a:p>
          <a:p>
            <a:endParaRPr lang="en-US" sz="1800" dirty="0"/>
          </a:p>
          <a:p>
            <a:r>
              <a:rPr lang="en-US" sz="1800" b="1" dirty="0" err="1"/>
              <a:t>Bluestock</a:t>
            </a:r>
            <a:r>
              <a:rPr lang="en-US" sz="1800" b="1" dirty="0"/>
              <a:t> Fintech Internship Program</a:t>
            </a:r>
          </a:p>
          <a:p>
            <a:r>
              <a:rPr lang="en-US" sz="1800" dirty="0"/>
              <a:t>May 2026 – July 2026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676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1015-D761-934B-1A88-ECFB78A8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127818"/>
            <a:ext cx="10018713" cy="914399"/>
          </a:xfrm>
        </p:spPr>
        <p:txBody>
          <a:bodyPr>
            <a:normAutofit/>
          </a:bodyPr>
          <a:lstStyle/>
          <a:p>
            <a:r>
              <a:rPr lang="en-US" sz="2800" b="1"/>
              <a:t>PROJECT OVERVIEW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C81E5-9413-A8D0-2B08-07C5D4FF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21110"/>
            <a:ext cx="10018713" cy="59190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      Objective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Analyze</a:t>
            </a:r>
            <a:r>
              <a:rPr lang="en-IN" sz="1800" dirty="0"/>
              <a:t> mutual fund datasets and derive insights related to:</a:t>
            </a:r>
          </a:p>
          <a:p>
            <a:r>
              <a:rPr lang="en-IN" sz="1800" dirty="0"/>
              <a:t> Investor </a:t>
            </a:r>
            <a:r>
              <a:rPr lang="en-IN" sz="1800" dirty="0" err="1"/>
              <a:t>Behavior</a:t>
            </a:r>
            <a:endParaRPr lang="en-IN" sz="1800" dirty="0"/>
          </a:p>
          <a:p>
            <a:r>
              <a:rPr lang="en-IN" sz="1800" dirty="0"/>
              <a:t>Investment trends</a:t>
            </a:r>
          </a:p>
          <a:p>
            <a:r>
              <a:rPr lang="en-IN" sz="1800" dirty="0"/>
              <a:t>Fund Performance</a:t>
            </a:r>
          </a:p>
          <a:p>
            <a:r>
              <a:rPr lang="en-IN" sz="1800" dirty="0"/>
              <a:t>Transaction Trends</a:t>
            </a:r>
          </a:p>
          <a:p>
            <a:r>
              <a:rPr lang="en-IN" sz="1800" dirty="0"/>
              <a:t>State-wise Investment Patterns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2200" b="1" dirty="0"/>
              <a:t>Tools Used</a:t>
            </a:r>
          </a:p>
          <a:p>
            <a:r>
              <a:rPr lang="en-IN" sz="1800" dirty="0"/>
              <a:t>Python</a:t>
            </a:r>
          </a:p>
          <a:p>
            <a:r>
              <a:rPr lang="en-IN" sz="1800" dirty="0"/>
              <a:t>Pandas</a:t>
            </a:r>
          </a:p>
          <a:p>
            <a:r>
              <a:rPr lang="en-IN" sz="1800" dirty="0"/>
              <a:t>SQLite</a:t>
            </a:r>
          </a:p>
          <a:p>
            <a:r>
              <a:rPr lang="en-IN" sz="1800" dirty="0"/>
              <a:t>SQL</a:t>
            </a:r>
          </a:p>
          <a:p>
            <a:r>
              <a:rPr lang="en-IN" sz="1800" dirty="0"/>
              <a:t>Power BI</a:t>
            </a:r>
          </a:p>
          <a:p>
            <a:r>
              <a:rPr lang="en-IN" sz="1800" dirty="0"/>
              <a:t>Git &amp; GitHub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1829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13BE-EEA3-E33E-7C55-9EFA7610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238864"/>
          </a:xfrm>
        </p:spPr>
        <p:txBody>
          <a:bodyPr>
            <a:normAutofit/>
          </a:bodyPr>
          <a:lstStyle/>
          <a:p>
            <a:r>
              <a:rPr lang="en-US" sz="2800" b="1"/>
              <a:t>DATASETS USED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EBA1-58A9-5D96-0394-3483323F5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432620"/>
            <a:ext cx="10018713" cy="6312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/>
              <a:t>The project utilizes the following datasets:</a:t>
            </a:r>
          </a:p>
          <a:p>
            <a:r>
              <a:rPr lang="en-IN" sz="1800"/>
              <a:t> Fund Master</a:t>
            </a:r>
          </a:p>
          <a:p>
            <a:r>
              <a:rPr lang="en-IN" sz="1800"/>
              <a:t> NAV History</a:t>
            </a:r>
          </a:p>
          <a:p>
            <a:r>
              <a:rPr lang="en-IN" sz="1800"/>
              <a:t> AUM by Fund</a:t>
            </a:r>
          </a:p>
          <a:p>
            <a:r>
              <a:rPr lang="en-IN" sz="1800"/>
              <a:t> Monthly SIP</a:t>
            </a:r>
          </a:p>
          <a:p>
            <a:r>
              <a:rPr lang="en-IN" sz="1800"/>
              <a:t> Category Inflow</a:t>
            </a:r>
          </a:p>
          <a:p>
            <a:r>
              <a:rPr lang="en-IN" sz="1800"/>
              <a:t> Industry Folio</a:t>
            </a:r>
          </a:p>
          <a:p>
            <a:r>
              <a:rPr lang="en-IN" sz="1800"/>
              <a:t> Scheme Performance</a:t>
            </a:r>
          </a:p>
          <a:p>
            <a:r>
              <a:rPr lang="en-IN" sz="1800"/>
              <a:t>Investor Transactions</a:t>
            </a:r>
          </a:p>
          <a:p>
            <a:r>
              <a:rPr lang="en-IN" sz="1800"/>
              <a:t> Portfolio Holdings</a:t>
            </a:r>
          </a:p>
          <a:p>
            <a:r>
              <a:rPr lang="en-IN" sz="1800"/>
              <a:t> Benchmark Returns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7754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4A1C-D17E-1C21-E65B-2960AF46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875071"/>
          </a:xfrm>
        </p:spPr>
        <p:txBody>
          <a:bodyPr>
            <a:normAutofit/>
          </a:bodyPr>
          <a:lstStyle/>
          <a:p>
            <a:r>
              <a:rPr lang="en-US" sz="2800" b="1"/>
              <a:t>PROJECT WORKFLOW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231A-3E01-98B3-387E-683E9683E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79871"/>
            <a:ext cx="10018713" cy="4788310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/>
              <a:t>Data Ingestion</a:t>
            </a:r>
          </a:p>
          <a:p>
            <a:pPr marL="0" indent="0" algn="ctr">
              <a:buNone/>
            </a:pPr>
            <a:r>
              <a:rPr lang="en-IN"/>
              <a:t>↓</a:t>
            </a:r>
          </a:p>
          <a:p>
            <a:pPr marL="0" indent="0" algn="ctr">
              <a:buNone/>
            </a:pPr>
            <a:r>
              <a:rPr lang="en-IN"/>
              <a:t>Data Cleaning</a:t>
            </a:r>
          </a:p>
          <a:p>
            <a:pPr marL="0" indent="0" algn="ctr">
              <a:buNone/>
            </a:pPr>
            <a:r>
              <a:rPr lang="en-IN"/>
              <a:t>↓</a:t>
            </a:r>
          </a:p>
          <a:p>
            <a:pPr marL="0" indent="0" algn="ctr">
              <a:buNone/>
            </a:pPr>
            <a:r>
              <a:rPr lang="en-IN"/>
              <a:t>SQLite Database Creation</a:t>
            </a:r>
          </a:p>
          <a:p>
            <a:pPr marL="0" indent="0" algn="ctr">
              <a:buNone/>
            </a:pPr>
            <a:r>
              <a:rPr lang="en-IN"/>
              <a:t>↓</a:t>
            </a:r>
          </a:p>
          <a:p>
            <a:pPr marL="0" indent="0" algn="ctr">
              <a:buNone/>
            </a:pPr>
            <a:r>
              <a:rPr lang="en-IN"/>
              <a:t>Exploratory Data Analysis</a:t>
            </a:r>
          </a:p>
          <a:p>
            <a:pPr marL="0" indent="0" algn="ctr">
              <a:buNone/>
            </a:pPr>
            <a:r>
              <a:rPr lang="en-IN"/>
              <a:t>↓</a:t>
            </a:r>
          </a:p>
          <a:p>
            <a:pPr marL="0" indent="0" algn="ctr">
              <a:buNone/>
            </a:pPr>
            <a:r>
              <a:rPr lang="en-IN"/>
              <a:t>Performance Analytics</a:t>
            </a:r>
          </a:p>
          <a:p>
            <a:pPr marL="0" indent="0" algn="ctr">
              <a:buNone/>
            </a:pPr>
            <a:r>
              <a:rPr lang="en-IN"/>
              <a:t>↓</a:t>
            </a:r>
          </a:p>
          <a:p>
            <a:pPr marL="0" indent="0" algn="ctr">
              <a:buNone/>
            </a:pPr>
            <a:r>
              <a:rPr lang="en-IN"/>
              <a:t>Advanced Analytics</a:t>
            </a:r>
          </a:p>
          <a:p>
            <a:pPr marL="0" indent="0" algn="ctr">
              <a:buNone/>
            </a:pPr>
            <a:r>
              <a:rPr lang="en-IN"/>
              <a:t>↓</a:t>
            </a:r>
          </a:p>
          <a:p>
            <a:pPr marL="0" indent="0" algn="ctr">
              <a:buNone/>
            </a:pPr>
            <a:r>
              <a:rPr lang="en-IN"/>
              <a:t>Power BI Dashboard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49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94EA-BE2D-28CC-6951-FA00885B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609599"/>
          </a:xfrm>
        </p:spPr>
        <p:txBody>
          <a:bodyPr>
            <a:normAutofit/>
          </a:bodyPr>
          <a:lstStyle/>
          <a:p>
            <a:r>
              <a:rPr lang="en-US" sz="2400" b="1" dirty="0"/>
              <a:t>E</a:t>
            </a:r>
            <a:r>
              <a:rPr lang="en-IN" sz="2400" b="1" dirty="0"/>
              <a:t>XPLORATORY  DATA 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A35E5-7180-580E-D098-40E52A8D8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609600"/>
            <a:ext cx="3719405" cy="54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900" dirty="0"/>
              <a:t>Analysis Performed</a:t>
            </a:r>
          </a:p>
          <a:p>
            <a:r>
              <a:rPr lang="en-IN" dirty="0"/>
              <a:t>State-wise investment</a:t>
            </a:r>
          </a:p>
          <a:p>
            <a:r>
              <a:rPr lang="en-IN" dirty="0"/>
              <a:t> Gender-wise distribution</a:t>
            </a:r>
          </a:p>
          <a:p>
            <a:r>
              <a:rPr lang="en-IN" dirty="0"/>
              <a:t> Transaction type analysis</a:t>
            </a:r>
          </a:p>
          <a:p>
            <a:r>
              <a:rPr lang="en-IN" dirty="0"/>
              <a:t> Fund performance </a:t>
            </a:r>
          </a:p>
          <a:p>
            <a:r>
              <a:rPr lang="en-IN" dirty="0"/>
              <a:t> Investor behaviour </a:t>
            </a:r>
          </a:p>
          <a:p>
            <a:pPr marL="0" indent="0">
              <a:buNone/>
            </a:pP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0C302-57D7-4B0E-39C3-625345D5C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609602"/>
            <a:ext cx="6623772" cy="2930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7B7CF-D5D7-B91C-1785-30743F8D2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10" y="3657600"/>
            <a:ext cx="6623772" cy="310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4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C56E8-CF27-8565-5652-4368AD3E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816077"/>
          </a:xfrm>
        </p:spPr>
        <p:txBody>
          <a:bodyPr>
            <a:normAutofit/>
          </a:bodyPr>
          <a:lstStyle/>
          <a:p>
            <a:r>
              <a:rPr lang="en-IN" sz="2800" b="1" dirty="0"/>
              <a:t>PERFORMANCE</a:t>
            </a:r>
            <a:r>
              <a:rPr lang="en-IN" sz="2400" b="1" dirty="0"/>
              <a:t>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05A71-A97B-9D59-5664-104D25CC7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701869"/>
            <a:ext cx="10018714" cy="524664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Metrics Evaluated</a:t>
            </a:r>
          </a:p>
          <a:p>
            <a:r>
              <a:rPr lang="en-IN" sz="2100" dirty="0"/>
              <a:t>1-Year Return</a:t>
            </a:r>
          </a:p>
          <a:p>
            <a:r>
              <a:rPr lang="en-IN" sz="2100" dirty="0"/>
              <a:t> 3-Year Return</a:t>
            </a:r>
          </a:p>
          <a:p>
            <a:r>
              <a:rPr lang="en-IN" sz="2100" dirty="0"/>
              <a:t> 5-Year Return</a:t>
            </a:r>
          </a:p>
          <a:p>
            <a:r>
              <a:rPr lang="en-IN" sz="2100" dirty="0"/>
              <a:t> Sharpe Ratio</a:t>
            </a:r>
          </a:p>
          <a:p>
            <a:r>
              <a:rPr lang="en-IN" sz="2100" dirty="0"/>
              <a:t> Sortino Ratio</a:t>
            </a:r>
          </a:p>
          <a:p>
            <a:r>
              <a:rPr lang="en-IN" sz="2100" dirty="0"/>
              <a:t> Alpha</a:t>
            </a:r>
          </a:p>
          <a:p>
            <a:r>
              <a:rPr lang="en-IN" sz="2100" dirty="0"/>
              <a:t> Beta</a:t>
            </a:r>
          </a:p>
          <a:p>
            <a:r>
              <a:rPr lang="en-IN" sz="2100" dirty="0"/>
              <a:t> Maximum Drawdown</a:t>
            </a:r>
          </a:p>
          <a:p>
            <a:pPr marL="0" indent="0">
              <a:buNone/>
            </a:pPr>
            <a:r>
              <a:rPr lang="en-IN" sz="2200" b="1" dirty="0"/>
              <a:t>Purpose</a:t>
            </a:r>
          </a:p>
          <a:p>
            <a:pPr marL="0" indent="0">
              <a:buNone/>
            </a:pPr>
            <a:r>
              <a:rPr lang="en-IN" sz="2100" dirty="0"/>
              <a:t>Evaluate risk-adjusted mutual fund performance and identify top-performing schemes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44D84-8A67-112D-3B9D-421B98F29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964" y="701869"/>
            <a:ext cx="7792049" cy="48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70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7625-F126-7C27-8DBB-A099E163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010" y="1"/>
            <a:ext cx="10018713" cy="599767"/>
          </a:xfrm>
        </p:spPr>
        <p:txBody>
          <a:bodyPr>
            <a:normAutofit/>
          </a:bodyPr>
          <a:lstStyle/>
          <a:p>
            <a:r>
              <a:rPr lang="en-IN" sz="2800" b="1" dirty="0"/>
              <a:t>POWER BI DASHBOARD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1EF6D-2A7A-9680-AC0F-D7030D83D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6575" y="769374"/>
            <a:ext cx="4482791" cy="21606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Dashboard KPIs</a:t>
            </a:r>
          </a:p>
          <a:p>
            <a:pPr marL="0" indent="0">
              <a:buNone/>
            </a:pPr>
            <a:r>
              <a:rPr lang="en-US" dirty="0"/>
              <a:t>Total Investment Amount          </a:t>
            </a:r>
          </a:p>
          <a:p>
            <a:r>
              <a:rPr lang="en-US" dirty="0"/>
              <a:t> Total Transactions</a:t>
            </a:r>
          </a:p>
          <a:p>
            <a:r>
              <a:rPr lang="en-US" dirty="0"/>
              <a:t>Total Investors</a:t>
            </a:r>
          </a:p>
          <a:p>
            <a:r>
              <a:rPr lang="en-US" dirty="0"/>
              <a:t>Top 10 States by Investment</a:t>
            </a:r>
          </a:p>
          <a:p>
            <a:r>
              <a:rPr lang="en-US" dirty="0"/>
              <a:t> Transaction Type Distribution</a:t>
            </a:r>
          </a:p>
          <a:p>
            <a:r>
              <a:rPr lang="en-US" dirty="0"/>
              <a:t> Gender-wise Investment Distribution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64818-3967-2117-EAC0-DB16A1365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0231" y="688258"/>
            <a:ext cx="4482791" cy="23597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Dashboard Benefits</a:t>
            </a:r>
          </a:p>
          <a:p>
            <a:r>
              <a:rPr lang="en-US" dirty="0"/>
              <a:t> Quick investment insights</a:t>
            </a:r>
          </a:p>
          <a:p>
            <a:r>
              <a:rPr lang="en-US" dirty="0"/>
              <a:t> Investor trend identification</a:t>
            </a:r>
          </a:p>
          <a:p>
            <a:r>
              <a:rPr lang="en-US" dirty="0"/>
              <a:t> Interactive visualization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3AD62-4B1A-9E6A-955B-26D1D2CDC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195" y="2738587"/>
            <a:ext cx="8862828" cy="411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96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ECD83-9C82-5110-60A9-B5818033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865239"/>
          </a:xfrm>
        </p:spPr>
        <p:txBody>
          <a:bodyPr>
            <a:normAutofit/>
          </a:bodyPr>
          <a:lstStyle/>
          <a:p>
            <a:r>
              <a:rPr lang="en-IN" sz="2800" b="1" dirty="0"/>
              <a:t>KEY INSIGHTS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097B-CF9F-4A60-F643-909661909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698091"/>
            <a:ext cx="10018713" cy="52012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Key Insights</a:t>
            </a:r>
          </a:p>
          <a:p>
            <a:r>
              <a:rPr lang="en-US" sz="1900" dirty="0"/>
              <a:t>Punjab and Tamil Nadu recorded the highest investments.</a:t>
            </a:r>
          </a:p>
          <a:p>
            <a:r>
              <a:rPr lang="en-US" sz="1900" dirty="0"/>
              <a:t> Lump Sum transactions contributed the largest share of investment volume.</a:t>
            </a:r>
          </a:p>
          <a:p>
            <a:r>
              <a:rPr lang="en-US" sz="1900" dirty="0"/>
              <a:t> Male investors contributed a larger share of total investments.</a:t>
            </a:r>
          </a:p>
          <a:p>
            <a:r>
              <a:rPr lang="en-US" sz="1900" dirty="0"/>
              <a:t>Several schemes demonstrated strong long-term returns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Conclusion</a:t>
            </a:r>
          </a:p>
          <a:p>
            <a:pPr marL="0" indent="0">
              <a:buNone/>
            </a:pPr>
            <a:r>
              <a:rPr lang="en-US" sz="1900" dirty="0"/>
              <a:t>The project successfully implemented an end-to-end mutual fund analytics workflow using Python, SQL, SQLite, and Power BI. The dashboard provides meaningful insights into mutual fund investments and investor behavior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Future Scope</a:t>
            </a:r>
          </a:p>
          <a:p>
            <a:r>
              <a:rPr lang="en-US" sz="1900" dirty="0"/>
              <a:t>Real-time NAV tracking</a:t>
            </a:r>
          </a:p>
          <a:p>
            <a:r>
              <a:rPr lang="en-US" sz="1900" dirty="0"/>
              <a:t> Fund recommendation system</a:t>
            </a:r>
          </a:p>
          <a:p>
            <a:r>
              <a:rPr lang="en-US" sz="1900" dirty="0"/>
              <a:t>Predictive analytics using Machine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590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78</TotalTime>
  <Words>324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MUTUAL FUND ANALYTICS DASHBOARD</vt:lpstr>
      <vt:lpstr>PROJECT OVERVIEW</vt:lpstr>
      <vt:lpstr>DATASETS USED</vt:lpstr>
      <vt:lpstr>PROJECT WORKFLOW</vt:lpstr>
      <vt:lpstr>EXPLORATORY  DATA  ANALYSIS</vt:lpstr>
      <vt:lpstr>PERFORMANCE ANALYTICS</vt:lpstr>
      <vt:lpstr>POWER BI DASHBOARD</vt:lpstr>
      <vt:lpstr>KEY 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 soumya</dc:creator>
  <cp:lastModifiedBy>soumya soumya</cp:lastModifiedBy>
  <cp:revision>1</cp:revision>
  <dcterms:created xsi:type="dcterms:W3CDTF">2026-06-10T07:46:00Z</dcterms:created>
  <dcterms:modified xsi:type="dcterms:W3CDTF">2026-06-10T09:04:04Z</dcterms:modified>
</cp:coreProperties>
</file>